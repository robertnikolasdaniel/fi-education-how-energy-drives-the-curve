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C43D5-7FE4-B7C2-66FD-C50E0499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EBBDF-4943-9668-1D4F-5F75A9981E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7A31F-5DC5-8FF9-C5C4-91EA6F59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0031-A161-41B8-BFC9-7CDDA3D9EB4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7F453-33F5-3846-88B6-87A13AAD7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2FA02-8459-E4FF-F1BD-C156863B9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F530-1ABE-44ED-9BC2-B3C68C993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95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63662-DBF2-1BE5-49F6-232457DA1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301FB-27F5-BFF7-5136-3B6C00255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7AF59-457C-5240-EF1C-4E1AFC39D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0031-A161-41B8-BFC9-7CDDA3D9EB4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2E619-112B-6B4E-0328-9E032E465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72B68-9358-3C1C-6FC8-48C896DCB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F530-1ABE-44ED-9BC2-B3C68C993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268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E0200-B2BF-9E4A-E0F9-6525391E9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F26B7-24FC-5D1A-B001-898CD3771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E989E-D12C-31D5-E37C-C03A53126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0031-A161-41B8-BFC9-7CDDA3D9EB4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629ED-ED53-E085-5ADA-663132FE7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F6904-07E0-6F0C-B497-DF8CBF527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F530-1ABE-44ED-9BC2-B3C68C993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11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D73B6-C062-E0FC-86D3-1949162EC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52FFC-5576-8D1A-7B6F-8E29C771F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267A7-7F71-C696-B200-5CE0B02C0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F3E75-5DBE-5CD5-888F-44B87162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0031-A161-41B8-BFC9-7CDDA3D9EB4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C79C8-E570-94B2-8C58-CA99C9204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E0C35-558C-B1BA-82E5-BACCAE442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F530-1ABE-44ED-9BC2-B3C68C993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46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99609-CF3C-4629-DBDD-4DA9D3732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5EA04-ABE6-488F-8352-56CD1460C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D0A705-8666-9700-F605-D6F37AE94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A25452-8A54-4687-8943-0439022F6E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220BAC-1827-5442-EC1A-1FF4B190D9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62C148-4BDA-89B1-F426-D34507F06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0031-A161-41B8-BFC9-7CDDA3D9EB4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72BFB0-4A2A-A180-E718-B90232F9F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C4F70B-FD36-DE26-AA81-E12F25B0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F530-1ABE-44ED-9BC2-B3C68C993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819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43F9D-3507-4644-D646-545E1A6D1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EBC2FD-2ADC-A4E2-3120-D879E6F0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0031-A161-41B8-BFC9-7CDDA3D9EB4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E9D40E-14DA-19FF-3B3D-CB001CC0C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BC44C4-F9B3-FB1E-648F-EB8904EFA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F530-1ABE-44ED-9BC2-B3C68C993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5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C1424D-C897-AAED-41BC-6A044DFD3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0031-A161-41B8-BFC9-7CDDA3D9EB4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3DAADA-5D14-B454-EC35-3C0B12E57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1EC2E-60FF-15C2-5693-4FB1D489B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F530-1ABE-44ED-9BC2-B3C68C993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441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42E8A-DCBE-EC4C-0143-CA11EB1AE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7169E-D6D4-8885-D864-7E5C49DC9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A50E45-AB1F-2E0D-C7ED-C31A75467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10447-83C1-BAF0-1F2E-FDA63172B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0031-A161-41B8-BFC9-7CDDA3D9EB4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0EA87-D624-BC5B-80D8-E18E49F5D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55A82-0F0E-8FF0-3C89-7F14307ED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F530-1ABE-44ED-9BC2-B3C68C993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60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CB771-B19B-1C36-63FE-87047A2F8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7CDDB5-4EA0-9C48-8BEC-EC1EC456A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63D59-362D-A19A-7B46-06EDD809A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491E0A-6E69-3AD5-7282-846FF7876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0031-A161-41B8-BFC9-7CDDA3D9EB4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9A9E1-1644-A543-36D9-98D9A2C30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48162-A856-4538-C91B-4BCE67F48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F530-1ABE-44ED-9BC2-B3C68C993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264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851E7-7C80-DE96-96CE-4B68F5254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4CACB8-9E21-87CE-A43D-1E30F2EBE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B3EF5-91F9-4836-CA55-ED840DF9A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0031-A161-41B8-BFC9-7CDDA3D9EB4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899DF-B5C3-B0B3-EC43-C367F6746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1BBEB-555B-52C7-B0BE-859EF4869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F530-1ABE-44ED-9BC2-B3C68C993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181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AB0A46-F616-E00D-9581-D40F15FE4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F258B-EBC5-7B95-6B67-F536935D51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8533E-61F7-9276-E92E-F2EC5F51C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0031-A161-41B8-BFC9-7CDDA3D9EB4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ED34-494D-4B8C-7CE3-F62A27494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59722-F362-A0FD-5369-651E8FAE0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F530-1ABE-44ED-9BC2-B3C68C993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663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CC39A6-81C3-54EA-0069-AEDFEA725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FB941-D4C8-6DDF-6F7A-DBDDBC6B6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3ADEF-DC32-244C-BCBD-37CD52CAE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350031-A161-41B8-BFC9-7CDDA3D9EB4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8FC3C-84F9-BF88-E2D8-A21C7FF66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A1094-7304-C3C7-32C5-AB352966C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2FF530-1ABE-44ED-9BC2-B3C68C993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78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F2FF5-1DDE-40C7-CAEB-34211D89EC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Energy Drives the Curve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786A51-31D7-6504-EB1C-732274951C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Commodities Macro and its FI Consequences</a:t>
            </a:r>
          </a:p>
        </p:txBody>
      </p:sp>
    </p:spTree>
    <p:extLst>
      <p:ext uri="{BB962C8B-B14F-4D97-AF65-F5344CB8AC3E}">
        <p14:creationId xmlns:p14="http://schemas.microsoft.com/office/powerpoint/2010/main" val="303560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221DC-5357-DDB8-3416-6631423BB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Yields are not Magic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30F72-7D38-E888-A194-F2D68B537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752" y="1344168"/>
            <a:ext cx="10671048" cy="4946904"/>
          </a:xfrm>
        </p:spPr>
        <p:txBody>
          <a:bodyPr>
            <a:normAutofit/>
          </a:bodyPr>
          <a:lstStyle/>
          <a:p>
            <a:r>
              <a:rPr lang="en-US" sz="3200" dirty="0"/>
              <a:t>When entering FI, after surviving paragraphs of unreadable jargon and formulas you don’t understand, it becomes easy to assume everything is </a:t>
            </a:r>
            <a:r>
              <a:rPr lang="en-US" sz="3200" dirty="0" err="1"/>
              <a:t>blackbox</a:t>
            </a:r>
            <a:r>
              <a:rPr lang="en-US" sz="3200" dirty="0"/>
              <a:t> magic.</a:t>
            </a:r>
          </a:p>
          <a:p>
            <a:r>
              <a:rPr lang="en-US" sz="3200" dirty="0"/>
              <a:t>But fundamentally the UST yields are a textbook combination of financialized USD inflation, and Real Growth (TIPS) outlooks.</a:t>
            </a:r>
          </a:p>
          <a:p>
            <a:r>
              <a:rPr lang="en-US" sz="3200" dirty="0"/>
              <a:t>Energy remains the largest commodity sector that can impact both, quickly, and last for extended periods. Simply put, oil moves industrialization, consumer sentiment, and abstract </a:t>
            </a:r>
            <a:r>
              <a:rPr lang="en-US" dirty="0"/>
              <a:t>credit.</a:t>
            </a:r>
          </a:p>
        </p:txBody>
      </p:sp>
    </p:spTree>
    <p:extLst>
      <p:ext uri="{BB962C8B-B14F-4D97-AF65-F5344CB8AC3E}">
        <p14:creationId xmlns:p14="http://schemas.microsoft.com/office/powerpoint/2010/main" val="438930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5A0B4B-BB9F-9E81-357A-61D32976D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361" y="28100"/>
            <a:ext cx="10231278" cy="680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992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4B279-494D-1E79-602D-E19C1E8ED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Crude Curve, Liquidity Monster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CBDED-4DAF-5DB8-EE4A-049596A31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Knowing that energy is a primary driver of the economy, the crude curve priced by futures becomes more than simply a storage cost trade, but a reflexive look into primary stress.</a:t>
            </a:r>
          </a:p>
          <a:p>
            <a:r>
              <a:rPr lang="en-US" dirty="0"/>
              <a:t>The efficiency, liquidity, shape, and volatility of the crude oil curve (Both Brent and CL) can drive calendars on CME UST Futures, the SOFR complex, and even equities volatility.</a:t>
            </a:r>
          </a:p>
          <a:p>
            <a:r>
              <a:rPr lang="en-US" dirty="0"/>
              <a:t>This shock on Futures funding complex structurally moves into the yield curve, with violent repricing.</a:t>
            </a:r>
          </a:p>
        </p:txBody>
      </p:sp>
    </p:spTree>
    <p:extLst>
      <p:ext uri="{BB962C8B-B14F-4D97-AF65-F5344CB8AC3E}">
        <p14:creationId xmlns:p14="http://schemas.microsoft.com/office/powerpoint/2010/main" val="3779104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108DF6-0DBD-96B1-9766-13B9F3407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361" y="18574"/>
            <a:ext cx="10231278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68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524B7-1B95-A1FA-5218-6A9407525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Lasts, with REAL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57C2D-BFC2-4F6A-4A31-AF61A37D5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only is there a massive reflexive trade to Oil and Energy, but the implications of energy price movements have direct, structural ties to the entire economy that cannot be abstracted away.</a:t>
            </a:r>
          </a:p>
          <a:p>
            <a:r>
              <a:rPr lang="en-US" dirty="0"/>
              <a:t>Consumer spending at the pump, petroleum powered trade routes, airline costs, minerals industrialization, even credit card solvency has measured impacts that correlate very close with the price of a barrel.</a:t>
            </a:r>
          </a:p>
          <a:p>
            <a:r>
              <a:rPr lang="en-US" dirty="0"/>
              <a:t>Even credit moves on energy can have further order consequences on Corporate Bonds and Venture Capital.</a:t>
            </a:r>
          </a:p>
        </p:txBody>
      </p:sp>
    </p:spTree>
    <p:extLst>
      <p:ext uri="{BB962C8B-B14F-4D97-AF65-F5344CB8AC3E}">
        <p14:creationId xmlns:p14="http://schemas.microsoft.com/office/powerpoint/2010/main" val="4082586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62B54F-475A-1B60-6253-3898B14F3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08" y="9047"/>
            <a:ext cx="10269383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723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3EE42-D9EC-53B7-3959-1653840E5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Repricing's are Unavoidable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D33CE-0FE2-05CB-E7E2-682B0E679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almost every plumbing, credit, and corporate bond pipeline having some exposure to Crude, not only is a yield curve repricing unavoidable with energy shocks, but the deep true impact being much deeper than a natural curve drift on a trade.</a:t>
            </a:r>
          </a:p>
          <a:p>
            <a:r>
              <a:rPr lang="en-US" dirty="0"/>
              <a:t>Hence, transmission economists spend much of their careers at rate desks unraveling how deep, sticky, and long an Energies driven regime can last.</a:t>
            </a:r>
          </a:p>
          <a:p>
            <a:r>
              <a:rPr lang="en-US" dirty="0"/>
              <a:t>Curve traders are also hyper vigilant to their trades are CTD switching and liquidity thinning are directly tied to oil as well.</a:t>
            </a:r>
          </a:p>
        </p:txBody>
      </p:sp>
    </p:spTree>
    <p:extLst>
      <p:ext uri="{BB962C8B-B14F-4D97-AF65-F5344CB8AC3E}">
        <p14:creationId xmlns:p14="http://schemas.microsoft.com/office/powerpoint/2010/main" val="4213288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516FF1-1CEC-226F-008F-DE33C26D5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835" y="18574"/>
            <a:ext cx="10250330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248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B4243-AED5-ED98-C317-AAA556DC5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A54F6-385E-CFB1-137A-E63448B9C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Energy shocks don’t just move the textbook price of a curve, they also can distort liquidity and financing of the Treasury Markets.</a:t>
            </a:r>
          </a:p>
          <a:p>
            <a:r>
              <a:rPr lang="en-US" dirty="0"/>
              <a:t>Credit, Corporate Bonds, and VC lending also are impacted by oil moves as well.</a:t>
            </a:r>
          </a:p>
          <a:p>
            <a:r>
              <a:rPr lang="en-US" dirty="0"/>
              <a:t>The deep economic impact means that Central Bank policy is structurally tied to oil moves when prices start to lose control, regardless of what Finance wants.</a:t>
            </a:r>
          </a:p>
          <a:p>
            <a:r>
              <a:rPr lang="en-US" dirty="0"/>
              <a:t>Consumer sentiment doesn’t lie, CPI can behave as a “gas station index” for long stretches of time. </a:t>
            </a:r>
          </a:p>
        </p:txBody>
      </p:sp>
    </p:spTree>
    <p:extLst>
      <p:ext uri="{BB962C8B-B14F-4D97-AF65-F5344CB8AC3E}">
        <p14:creationId xmlns:p14="http://schemas.microsoft.com/office/powerpoint/2010/main" val="2906405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F6C91-0B10-2964-24BE-B86596FC4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2781149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EF202C489544903AE9974BF39310" ma:contentTypeVersion="4" ma:contentTypeDescription="Create a new document." ma:contentTypeScope="" ma:versionID="59bc2029951f676e9f30c2cc126892cb">
  <xsd:schema xmlns:xsd="http://www.w3.org/2001/XMLSchema" xmlns:xs="http://www.w3.org/2001/XMLSchema" xmlns:p="http://schemas.microsoft.com/office/2006/metadata/properties" xmlns:ns3="aa22a689-7505-4716-b802-371d38c763eb" targetNamespace="http://schemas.microsoft.com/office/2006/metadata/properties" ma:root="true" ma:fieldsID="11ccfcbd33bee6523d6e1d1941903c6f" ns3:_="">
    <xsd:import namespace="aa22a689-7505-4716-b802-371d38c763e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22a689-7505-4716-b802-371d38c763e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7787C0F-7A8E-4367-B93E-24C6233A67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22a689-7505-4716-b802-371d38c763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1E0703-FA1C-4435-9E69-31924CF2F1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924C36-CD09-497E-96FC-43BAE2C4BBAA}">
  <ds:schemaRefs>
    <ds:schemaRef ds:uri="aa22a689-7505-4716-b802-371d38c763eb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www.w3.org/XML/1998/namespace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478</Words>
  <Application>Microsoft Office PowerPoint</Application>
  <PresentationFormat>Widescreen</PresentationFormat>
  <Paragraphs>24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How Energy Drives the Curve</vt:lpstr>
      <vt:lpstr>Yields are not Magic Numbers</vt:lpstr>
      <vt:lpstr>PowerPoint Presentation</vt:lpstr>
      <vt:lpstr>Crude Curve, Liquidity Monster</vt:lpstr>
      <vt:lpstr>PowerPoint Presentation</vt:lpstr>
      <vt:lpstr>Energy Lasts, with REAL Impact</vt:lpstr>
      <vt:lpstr>PowerPoint Presentation</vt:lpstr>
      <vt:lpstr>Energy Repricing's are Unavoidable</vt:lpstr>
      <vt:lpstr>PowerPoint Presentation</vt:lpstr>
      <vt:lpstr>Final Conclusions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Daniel, Robert Nikolas</dc:creator>
  <cp:lastModifiedBy>Daniel, Robert Nikolas</cp:lastModifiedBy>
  <cp:revision>2</cp:revision>
  <dcterms:created xsi:type="dcterms:W3CDTF">2026-06-05T18:49:12Z</dcterms:created>
  <dcterms:modified xsi:type="dcterms:W3CDTF">2026-06-05T19:20:29Z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0x0101007527EF202C489544903AE9974BF39310</vt:lpwstr>
  </property>
</Properties>
</file>